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5759" y="2166364"/>
            <a:ext cx="11471565" cy="1739347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0000"/>
              </a:lnSpc>
              <a:defRPr sz="6000" spc="1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130925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5DC46-C997-473D-893B-36F7A585F5E6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89183-D9CE-4F60-9778-209A0BB30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213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5DC46-C997-473D-893B-36F7A585F5E6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89183-D9CE-4F60-9778-209A0BB30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2391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-6843" y="2059012"/>
            <a:ext cx="12195668" cy="182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91" y="2208879"/>
            <a:ext cx="10515600" cy="1676400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000" b="0" spc="15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3191" y="4010334"/>
            <a:ext cx="10515600" cy="1174639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845DC46-C997-473D-893B-36F7A585F5E6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0A89183-D9CE-4F60-9778-209A0BB30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5556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5344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0391" y="2011680"/>
            <a:ext cx="4754880" cy="420624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5DC46-C997-473D-893B-36F7A585F5E6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89183-D9CE-4F60-9778-209A0BB30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691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7008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7008" y="2656566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31230" y="1913470"/>
            <a:ext cx="4754880" cy="743094"/>
          </a:xfrm>
        </p:spPr>
        <p:txBody>
          <a:bodyPr anchor="ctr">
            <a:normAutofit/>
          </a:bodyPr>
          <a:lstStyle>
            <a:lvl1pPr marL="0" indent="0">
              <a:buNone/>
              <a:defRPr sz="21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1230" y="2656564"/>
            <a:ext cx="4754880" cy="35661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5DC46-C997-473D-893B-36F7A585F5E6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89183-D9CE-4F60-9778-209A0BB30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523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5DC46-C997-473D-893B-36F7A585F5E6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89183-D9CE-4F60-9778-209A0BB30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559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5DC46-C997-473D-893B-36F7A585F5E6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89183-D9CE-4F60-9778-209A0BB30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793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89023" y="2147486"/>
            <a:ext cx="3200400" cy="3432319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5DC46-C997-473D-893B-36F7A585F5E6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89183-D9CE-4F60-9778-209A0BB30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8285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chemeClr val="tx2">
              <a:lumMod val="60000"/>
              <a:lumOff val="40000"/>
            </a:schemeClr>
          </a:solidFill>
        </p:spPr>
        <p:txBody>
          <a:bodyPr tIns="365760" anchor="t"/>
          <a:lstStyle>
            <a:lvl1pPr marL="0" indent="0" algn="ctr">
              <a:buNone/>
              <a:defRPr sz="3200">
                <a:solidFill>
                  <a:schemeClr val="tx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790688" y="2150621"/>
            <a:ext cx="3200400" cy="3429000"/>
          </a:xfrm>
        </p:spPr>
        <p:txBody>
          <a:bodyPr>
            <a:normAutofit/>
          </a:bodyPr>
          <a:lstStyle>
            <a:lvl1pPr marL="0" indent="0">
              <a:lnSpc>
                <a:spcPct val="95000"/>
              </a:lnSpc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5DC46-C997-473D-893B-36F7A585F5E6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89183-D9CE-4F60-9778-209A0BB30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100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5DC46-C997-473D-893B-36F7A585F5E6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89183-D9CE-4F60-9778-209A0BB30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341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0624" y="274638"/>
            <a:ext cx="240238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274638"/>
            <a:ext cx="7973291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2854"/>
            <a:ext cx="2743196" cy="365125"/>
          </a:xfrm>
        </p:spPr>
        <p:txBody>
          <a:bodyPr/>
          <a:lstStyle/>
          <a:p>
            <a:fld id="{9845DC46-C997-473D-893B-36F7A585F5E6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76135" y="6422854"/>
            <a:ext cx="427966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3048" y="6422854"/>
            <a:ext cx="879759" cy="365125"/>
          </a:xfrm>
        </p:spPr>
        <p:txBody>
          <a:bodyPr/>
          <a:lstStyle/>
          <a:p>
            <a:fld id="{D0A89183-D9CE-4F60-9778-209A0BB30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606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83" y="176109"/>
            <a:ext cx="12188952" cy="16459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2919" y="284176"/>
            <a:ext cx="9784080" cy="15087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02919" y="2011680"/>
            <a:ext cx="9784080" cy="4206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02266" y="6422854"/>
            <a:ext cx="3000894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fld id="{9845DC46-C997-473D-893B-36F7A585F5E6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596471" y="6422854"/>
            <a:ext cx="50444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8927" y="6422854"/>
            <a:ext cx="946264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</a:defRPr>
            </a:lvl1pPr>
          </a:lstStyle>
          <a:p>
            <a:fld id="{D0A89183-D9CE-4F60-9778-209A0BB304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4700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000" kern="1200" cap="all" baseline="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tx1"/>
        </a:buClr>
        <a:buFont typeface="Wingdings" pitchFamily="2" charset="2"/>
        <a:buChar char="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846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718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29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806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Font typeface="Wingdings" pitchFamily="2" charset="2"/>
        <a:buChar char="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2D491-40C3-AD33-7D11-D80A00C6BC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066925"/>
            <a:ext cx="12192000" cy="1809750"/>
          </a:xfrm>
        </p:spPr>
        <p:txBody>
          <a:bodyPr>
            <a:noAutofit/>
          </a:bodyPr>
          <a:lstStyle/>
          <a:p>
            <a:r>
              <a:rPr lang="en-US" sz="4400" b="1" dirty="0"/>
              <a:t>Sports Products Sales Performance Analysis using SQL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862BBB-40D6-A083-596E-748ECD1424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96250"/>
            <a:ext cx="9144000" cy="394775"/>
          </a:xfrm>
        </p:spPr>
        <p:txBody>
          <a:bodyPr/>
          <a:lstStyle/>
          <a:p>
            <a:r>
              <a:rPr lang="en-US" dirty="0"/>
              <a:t>A comprehensive SQL-based exploration of sales, profits, and regional trends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06B8673-117A-F9C0-3CFE-869E24E2D6C7}"/>
              </a:ext>
            </a:extLst>
          </p:cNvPr>
          <p:cNvSpPr txBox="1">
            <a:spLocks/>
          </p:cNvSpPr>
          <p:nvPr/>
        </p:nvSpPr>
        <p:spPr>
          <a:xfrm>
            <a:off x="219075" y="5343230"/>
            <a:ext cx="2933700" cy="830287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/>
              <a:t>Name: Debdatta Mukherjee</a:t>
            </a:r>
          </a:p>
          <a:p>
            <a:pPr algn="l"/>
            <a:r>
              <a:rPr lang="en-US" b="1" dirty="0"/>
              <a:t>Date: October 2025</a:t>
            </a:r>
          </a:p>
        </p:txBody>
      </p:sp>
    </p:spTree>
    <p:extLst>
      <p:ext uri="{BB962C8B-B14F-4D97-AF65-F5344CB8AC3E}">
        <p14:creationId xmlns:p14="http://schemas.microsoft.com/office/powerpoint/2010/main" val="1156028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1E40D-195F-E715-E952-1D35FAF21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46076"/>
            <a:ext cx="9784080" cy="1508760"/>
          </a:xfrm>
        </p:spPr>
        <p:txBody>
          <a:bodyPr>
            <a:normAutofit/>
          </a:bodyPr>
          <a:lstStyle/>
          <a:p>
            <a:r>
              <a:rPr lang="en-US" sz="4400" b="1" dirty="0"/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CF7FA-2F31-EE7C-EF44-9449496FD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919" y="2125980"/>
            <a:ext cx="9784080" cy="4206240"/>
          </a:xfrm>
        </p:spPr>
        <p:txBody>
          <a:bodyPr>
            <a:normAutofit/>
          </a:bodyPr>
          <a:lstStyle/>
          <a:p>
            <a:r>
              <a:rPr lang="en-US" sz="3200" b="1" dirty="0"/>
              <a:t>Goal</a:t>
            </a:r>
            <a:r>
              <a:rPr lang="en-US" sz="3200" dirty="0"/>
              <a:t>: To analyze sports product sales data to identify patterns in revenue, profit, regional growth, and retailer performance using SQL.</a:t>
            </a:r>
          </a:p>
          <a:p>
            <a:endParaRPr lang="en-US" sz="3200" dirty="0"/>
          </a:p>
          <a:p>
            <a:r>
              <a:rPr lang="en-US" sz="3200" b="1" dirty="0"/>
              <a:t>Key Objectives</a:t>
            </a:r>
            <a:r>
              <a:rPr lang="en-US" sz="3200" dirty="0"/>
              <a:t>:</a:t>
            </a:r>
          </a:p>
          <a:p>
            <a:pPr lvl="1"/>
            <a:r>
              <a:rPr lang="en-US" sz="3200" dirty="0"/>
              <a:t>Measure total revenue &amp; profitability</a:t>
            </a:r>
          </a:p>
          <a:p>
            <a:pPr lvl="1"/>
            <a:r>
              <a:rPr lang="en-US" sz="3200" dirty="0"/>
              <a:t>Compare regional and product performance</a:t>
            </a:r>
          </a:p>
          <a:p>
            <a:pPr lvl="1"/>
            <a:r>
              <a:rPr lang="en-US" sz="3200" dirty="0"/>
              <a:t>Identify top retailers and sales methods</a:t>
            </a:r>
          </a:p>
        </p:txBody>
      </p:sp>
    </p:spTree>
    <p:extLst>
      <p:ext uri="{BB962C8B-B14F-4D97-AF65-F5344CB8AC3E}">
        <p14:creationId xmlns:p14="http://schemas.microsoft.com/office/powerpoint/2010/main" val="1399070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A15EB-3AC4-1B1E-C894-8378D2570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36551"/>
            <a:ext cx="9784080" cy="1508760"/>
          </a:xfrm>
        </p:spPr>
        <p:txBody>
          <a:bodyPr/>
          <a:lstStyle/>
          <a:p>
            <a:r>
              <a:rPr lang="en-US" b="1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A7B7F-21FC-ACA2-C47B-74B56B128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3960" y="1906906"/>
            <a:ext cx="9784080" cy="721994"/>
          </a:xfrm>
        </p:spPr>
        <p:txBody>
          <a:bodyPr>
            <a:normAutofit fontScale="92500" lnSpcReduction="20000"/>
          </a:bodyPr>
          <a:lstStyle/>
          <a:p>
            <a:r>
              <a:rPr lang="en-US" sz="2000" dirty="0"/>
              <a:t>Dataset: 9,644 records × 13 columns</a:t>
            </a:r>
          </a:p>
          <a:p>
            <a:r>
              <a:rPr lang="en-US" sz="2000" dirty="0"/>
              <a:t>Source: “Sports Products Sales Analysis Dataset”</a:t>
            </a:r>
          </a:p>
          <a:p>
            <a:endParaRPr lang="en-US" sz="2000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AFED619-76D0-B1F6-FAE2-070E06253F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8328932"/>
              </p:ext>
            </p:extLst>
          </p:nvPr>
        </p:nvGraphicFramePr>
        <p:xfrm>
          <a:off x="2105571" y="2696845"/>
          <a:ext cx="7978775" cy="40741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914775">
                  <a:extLst>
                    <a:ext uri="{9D8B030D-6E8A-4147-A177-3AD203B41FA5}">
                      <a16:colId xmlns:a16="http://schemas.microsoft.com/office/drawing/2014/main" val="377004979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1310111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Column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192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Retailer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Seller 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3746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Invoice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Date of sale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2215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Region / State / 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Geographical attributes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9682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577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Price per 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Unit 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67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Units Sold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Quantity sold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3818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Total 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 revenue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03463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Operating Profit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7324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Operating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Profit ratio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40272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Sales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Online / Outlet / In-store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0775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4777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8E3E2-5BA2-174A-BC30-BC91ECE82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36551"/>
            <a:ext cx="9784080" cy="1508760"/>
          </a:xfrm>
        </p:spPr>
        <p:txBody>
          <a:bodyPr/>
          <a:lstStyle/>
          <a:p>
            <a:r>
              <a:rPr lang="en-US" b="1" dirty="0"/>
              <a:t>Regional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E6B0B-145B-C031-238F-FA6F2E6DA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694" y="1883171"/>
            <a:ext cx="6540906" cy="44991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Total revenue and profit generated by each region.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C75B90-CB39-9A2C-3513-ACFABD1665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694" y="2456558"/>
            <a:ext cx="3009900" cy="15773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8FCA2B-DD6D-C5B7-F31B-9A0F79879A31}"/>
              </a:ext>
            </a:extLst>
          </p:cNvPr>
          <p:cNvSpPr txBox="1"/>
          <p:nvPr/>
        </p:nvSpPr>
        <p:spPr>
          <a:xfrm>
            <a:off x="5174844" y="2515323"/>
            <a:ext cx="67532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Top 3 cities contributing most to revenue in each region.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FB5445-3316-8B31-0FDA-6CE45D3FD9B6}"/>
              </a:ext>
            </a:extLst>
          </p:cNvPr>
          <p:cNvSpPr txBox="1"/>
          <p:nvPr/>
        </p:nvSpPr>
        <p:spPr>
          <a:xfrm>
            <a:off x="164694" y="4838167"/>
            <a:ext cx="59313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Identify most profitable product in each region.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1524279-2B44-CADE-5500-378D5AE78B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0" y="3020987"/>
            <a:ext cx="3674234" cy="372897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430D2E0-CE49-EA9A-2201-552BB3616CE0}"/>
              </a:ext>
            </a:extLst>
          </p:cNvPr>
          <p:cNvSpPr txBox="1"/>
          <p:nvPr/>
        </p:nvSpPr>
        <p:spPr>
          <a:xfrm>
            <a:off x="164694" y="5410003"/>
            <a:ext cx="58551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Men’s street footwear ranked 1 across  </a:t>
            </a:r>
            <a:r>
              <a:rPr lang="en-US" b="1" dirty="0"/>
              <a:t>Midwest, Northeast</a:t>
            </a:r>
            <a:r>
              <a:rPr lang="en-US" dirty="0"/>
              <a:t>, </a:t>
            </a:r>
            <a:r>
              <a:rPr lang="en-US" b="1" dirty="0"/>
              <a:t>Southeast, West </a:t>
            </a:r>
            <a:r>
              <a:rPr lang="en-US" dirty="0"/>
              <a:t>&amp; Women’s apparel ranked 1 in </a:t>
            </a:r>
            <a:r>
              <a:rPr lang="en-US" b="1" dirty="0"/>
              <a:t>South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21874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932E4-3794-E4D3-89CB-A09B04129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36551"/>
            <a:ext cx="9784080" cy="1508760"/>
          </a:xfrm>
        </p:spPr>
        <p:txBody>
          <a:bodyPr/>
          <a:lstStyle/>
          <a:p>
            <a:r>
              <a:rPr lang="en-US" b="1" dirty="0"/>
              <a:t>Product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D29A2-ADEA-2ECF-221B-20B7D3162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320" y="2023110"/>
            <a:ext cx="4997856" cy="53149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Top 5 best-selling products by total sales.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A23EB4-873E-DAC8-D709-9049BDBA77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20" y="2635713"/>
            <a:ext cx="3482340" cy="163068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657FBB2-F255-2850-A619-FE89D3934F44}"/>
              </a:ext>
            </a:extLst>
          </p:cNvPr>
          <p:cNvSpPr txBox="1">
            <a:spLocks/>
          </p:cNvSpPr>
          <p:nvPr/>
        </p:nvSpPr>
        <p:spPr>
          <a:xfrm>
            <a:off x="212320" y="5387301"/>
            <a:ext cx="7702957" cy="53149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Font typeface="Wingdings" pitchFamily="2" charset="2"/>
              <a:buChar char="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0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846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71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29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06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sz="2400" dirty="0"/>
              <a:t>Which product category gives the highest average profit margin?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DC667BE-BE90-FE5D-7F0D-182D7CA74365}"/>
              </a:ext>
            </a:extLst>
          </p:cNvPr>
          <p:cNvSpPr txBox="1">
            <a:spLocks/>
          </p:cNvSpPr>
          <p:nvPr/>
        </p:nvSpPr>
        <p:spPr>
          <a:xfrm>
            <a:off x="212320" y="5864173"/>
            <a:ext cx="4893081" cy="77218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Font typeface="Wingdings" pitchFamily="2" charset="2"/>
              <a:buChar char="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0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846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71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29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06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sz="2400" b="1" dirty="0"/>
              <a:t>Men’s street footwear </a:t>
            </a:r>
            <a:r>
              <a:rPr lang="en-US" sz="2400" dirty="0"/>
              <a:t>gives the Highest average profit margin of  44%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2766EC5-13D6-47CB-18A6-6046EBE6ED23}"/>
              </a:ext>
            </a:extLst>
          </p:cNvPr>
          <p:cNvSpPr txBox="1">
            <a:spLocks/>
          </p:cNvSpPr>
          <p:nvPr/>
        </p:nvSpPr>
        <p:spPr>
          <a:xfrm>
            <a:off x="4990059" y="2757249"/>
            <a:ext cx="6989621" cy="5314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Font typeface="Wingdings" pitchFamily="2" charset="2"/>
              <a:buChar char="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0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846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71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29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06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dirty="0"/>
              <a:t>Total units sold and average price per unit for each product.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E7B5F90-3DB4-71F9-FE7C-FF4793A74A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1740" y="3355803"/>
            <a:ext cx="4541520" cy="182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146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496E3A-4508-D930-90B5-B6A714729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36551"/>
            <a:ext cx="9784080" cy="1508760"/>
          </a:xfrm>
        </p:spPr>
        <p:txBody>
          <a:bodyPr/>
          <a:lstStyle/>
          <a:p>
            <a:r>
              <a:rPr lang="en-US" b="1" dirty="0"/>
              <a:t>Retailer &amp; Sales Channel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9BB5B-C161-E712-DD6B-F3C73EFA2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2367" y="1956435"/>
            <a:ext cx="9784080" cy="55054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Find which sales method (Outlet/Online/Store) performs best in terms of profit.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EF93A9-9B37-96D2-D95C-51717AA10D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367" y="2506980"/>
            <a:ext cx="4671060" cy="109728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E498FDA-C0EF-9A1B-4CEC-9BE529A014E4}"/>
              </a:ext>
            </a:extLst>
          </p:cNvPr>
          <p:cNvSpPr txBox="1">
            <a:spLocks/>
          </p:cNvSpPr>
          <p:nvPr/>
        </p:nvSpPr>
        <p:spPr>
          <a:xfrm>
            <a:off x="242367" y="3964303"/>
            <a:ext cx="4987290" cy="5505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Font typeface="Wingdings" pitchFamily="2" charset="2"/>
              <a:buChar char="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0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846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71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29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06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Rank retailers based on total revenue.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2D7C5E4-4CBF-A292-D10B-92C148B1F4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367" y="4514848"/>
            <a:ext cx="2842260" cy="1882140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86F387C-4618-95F2-EF6D-77692636ED31}"/>
              </a:ext>
            </a:extLst>
          </p:cNvPr>
          <p:cNvSpPr txBox="1">
            <a:spLocks/>
          </p:cNvSpPr>
          <p:nvPr/>
        </p:nvSpPr>
        <p:spPr>
          <a:xfrm>
            <a:off x="6414134" y="3964304"/>
            <a:ext cx="5568316" cy="5505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/>
              </a:buClr>
              <a:buFont typeface="Wingdings" pitchFamily="2" charset="2"/>
              <a:buChar char="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114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400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686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846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718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29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062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/>
              </a:buClr>
              <a:buFont typeface="Wingdings" pitchFamily="2" charset="2"/>
              <a:buChar char="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Average operating margin per sales method.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ACDC419-2792-AA0B-BAA4-D68402ABC7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4134" y="4514848"/>
            <a:ext cx="2979420" cy="111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198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A946B-FDDD-C263-7113-9823255C9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36551"/>
            <a:ext cx="9784080" cy="1508760"/>
          </a:xfrm>
        </p:spPr>
        <p:txBody>
          <a:bodyPr/>
          <a:lstStyle/>
          <a:p>
            <a:r>
              <a:rPr lang="en-US" b="1" dirty="0"/>
              <a:t>Business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10DC8-2056-2ACF-EB9E-8BBF4F594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919" y="2602230"/>
            <a:ext cx="9784080" cy="2865120"/>
          </a:xfrm>
        </p:spPr>
        <p:txBody>
          <a:bodyPr>
            <a:normAutofit/>
          </a:bodyPr>
          <a:lstStyle/>
          <a:p>
            <a:r>
              <a:rPr lang="en-US" sz="3200" dirty="0"/>
              <a:t>Expand outlet network in top-performing regions</a:t>
            </a:r>
          </a:p>
          <a:p>
            <a:r>
              <a:rPr lang="en-US" sz="3200" dirty="0"/>
              <a:t>Focus on women’s footwear for high-margin returns</a:t>
            </a:r>
          </a:p>
          <a:p>
            <a:r>
              <a:rPr lang="en-US" sz="3200" dirty="0"/>
              <a:t>Optimize pricing strategy to maintain volume</a:t>
            </a:r>
          </a:p>
          <a:p>
            <a:r>
              <a:rPr lang="en-US" sz="3200" dirty="0"/>
              <a:t>Introduce loyalty programs for high-revenue cities</a:t>
            </a:r>
          </a:p>
        </p:txBody>
      </p:sp>
    </p:spTree>
    <p:extLst>
      <p:ext uri="{BB962C8B-B14F-4D97-AF65-F5344CB8AC3E}">
        <p14:creationId xmlns:p14="http://schemas.microsoft.com/office/powerpoint/2010/main" val="3977980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FD947-67B5-647D-C95B-B236D91C0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2919" y="236551"/>
            <a:ext cx="9784080" cy="1508760"/>
          </a:xfrm>
        </p:spPr>
        <p:txBody>
          <a:bodyPr/>
          <a:lstStyle/>
          <a:p>
            <a:r>
              <a:rPr lang="en-US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CE1417-D038-336E-FF17-E5C557A60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2919" y="2554605"/>
            <a:ext cx="9784080" cy="3322320"/>
          </a:xfrm>
        </p:spPr>
        <p:txBody>
          <a:bodyPr>
            <a:normAutofit/>
          </a:bodyPr>
          <a:lstStyle/>
          <a:p>
            <a:r>
              <a:rPr lang="en-US" sz="3600" dirty="0"/>
              <a:t>Summary:</a:t>
            </a:r>
          </a:p>
          <a:p>
            <a:pPr lvl="1"/>
            <a:r>
              <a:rPr lang="en-US" sz="3600" dirty="0"/>
              <a:t>SQL effectively revealed patterns in sales &amp; profit.</a:t>
            </a:r>
          </a:p>
          <a:p>
            <a:pPr lvl="1"/>
            <a:r>
              <a:rPr lang="en-US" sz="3600" dirty="0"/>
              <a:t>Key insights support data-driven decisions for product &amp; region strategy.</a:t>
            </a:r>
          </a:p>
        </p:txBody>
      </p:sp>
    </p:spTree>
    <p:extLst>
      <p:ext uri="{BB962C8B-B14F-4D97-AF65-F5344CB8AC3E}">
        <p14:creationId xmlns:p14="http://schemas.microsoft.com/office/powerpoint/2010/main" val="18595125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anded">
  <a:themeElements>
    <a:clrScheme name="Banded">
      <a:dk1>
        <a:srgbClr val="2C2C2C"/>
      </a:dk1>
      <a:lt1>
        <a:srgbClr val="FFFFFF"/>
      </a:lt1>
      <a:dk2>
        <a:srgbClr val="099BDD"/>
      </a:dk2>
      <a:lt2>
        <a:srgbClr val="F2F2F2"/>
      </a:lt2>
      <a:accent1>
        <a:srgbClr val="FFC000"/>
      </a:accent1>
      <a:accent2>
        <a:srgbClr val="A5D028"/>
      </a:accent2>
      <a:accent3>
        <a:srgbClr val="08CC78"/>
      </a:accent3>
      <a:accent4>
        <a:srgbClr val="F24099"/>
      </a:accent4>
      <a:accent5>
        <a:srgbClr val="828288"/>
      </a:accent5>
      <a:accent6>
        <a:srgbClr val="F56617"/>
      </a:accent6>
      <a:hlink>
        <a:srgbClr val="005DBA"/>
      </a:hlink>
      <a:folHlink>
        <a:srgbClr val="6C606A"/>
      </a:folHlink>
    </a:clrScheme>
    <a:fontScheme name="Banded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nded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120000"/>
                <a:lumMod val="107000"/>
              </a:schemeClr>
            </a:gs>
            <a:gs pos="50000">
              <a:schemeClr val="phClr">
                <a:tint val="70000"/>
                <a:satMod val="124000"/>
                <a:lumMod val="103000"/>
              </a:schemeClr>
            </a:gs>
            <a:gs pos="100000">
              <a:schemeClr val="phClr">
                <a:tint val="85000"/>
                <a:satMod val="12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5000"/>
                <a:shade val="98000"/>
                <a:satMod val="110000"/>
                <a:lumMod val="103000"/>
              </a:schemeClr>
            </a:gs>
            <a:gs pos="50000">
              <a:schemeClr val="phClr">
                <a:shade val="85000"/>
                <a:satMod val="105000"/>
                <a:lumMod val="100000"/>
              </a:schemeClr>
            </a:gs>
            <a:gs pos="100000">
              <a:schemeClr val="phClr">
                <a:shade val="60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875" dir="5400000" algn="ctr" rotWithShape="0">
              <a:srgbClr val="000000">
                <a:alpha val="68000"/>
              </a:srgbClr>
            </a:outerShdw>
          </a:effectLst>
        </a:effectStyle>
        <a:effectStyle>
          <a:effectLst>
            <a:outerShdw blurRad="88900" dist="2794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/>
              <a:schemeClr val="phClr">
                <a:shade val="91000"/>
                <a:satMod val="105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nded" id="{98DFF888-2449-4D28-977C-6306C017633E}" vid="{9792607F-9579-4224-82FF-9C88C3E1E5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TM03090430[[fn=Banded]]</Template>
  <TotalTime>463</TotalTime>
  <Words>321</Words>
  <Application>Microsoft Office PowerPoint</Application>
  <PresentationFormat>Widescreen</PresentationFormat>
  <Paragraphs>59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Corbel</vt:lpstr>
      <vt:lpstr>Wingdings</vt:lpstr>
      <vt:lpstr>Banded</vt:lpstr>
      <vt:lpstr>Sports Products Sales Performance Analysis using SQL</vt:lpstr>
      <vt:lpstr>Project Objective</vt:lpstr>
      <vt:lpstr>Dataset Overview</vt:lpstr>
      <vt:lpstr>Regional Performance</vt:lpstr>
      <vt:lpstr>Product Insights</vt:lpstr>
      <vt:lpstr>Retailer &amp; Sales Channel</vt:lpstr>
      <vt:lpstr>Business 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Sports Products Sales Performance Analysis using SQL</dc:title>
  <dc:creator>Debdatta</dc:creator>
  <cp:lastModifiedBy>Debdatta</cp:lastModifiedBy>
  <cp:revision>23</cp:revision>
  <dcterms:created xsi:type="dcterms:W3CDTF">2025-11-02T07:28:02Z</dcterms:created>
  <dcterms:modified xsi:type="dcterms:W3CDTF">2025-11-02T15:14:19Z</dcterms:modified>
</cp:coreProperties>
</file>